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ới thiệu" id="{b97245fb-5294-1ca5-2c4c-34b525bfbb49}">
          <p14:sldIdLst>
            <p14:sldId id="256"/>
          </p14:sldIdLst>
        </p14:section>
        <p14:section name="Hiện trạng" id="{550273e2-609c-ff62-352b-e4542c5f7859}">
          <p14:sldIdLst>
            <p14:sldId id="257"/>
          </p14:sldIdLst>
        </p14:section>
        <p14:section name="Use case" id="{5b06a007-d92e-df79-64b0-7aa6fcecb962}">
          <p14:sldIdLst>
            <p14:sldId id="258"/>
          </p14:sldIdLst>
        </p14:section>
        <p14:section name="EOS" id="{d71864f7-5c79-882c-4c12-a77f0207ebb8}">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Diagmon là hệ thống nội bộ dùng để tracking các issue của app gồm Force Close, ANR và custom error. Mỗi app phải đăng ký với server mới gửi được log. Báo cáo gồm 3 phần: hiện trạng sử dụng trong group, các use case custom logging, và thông tin EOS.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group có 4 app. VideoPlayer và CollageEditor không sử dụng Diagmon. SmartView trước đây dùng default logging nên đã được chuyển về DQA. Gallery là app duy nhất đang dùng custom logging trên Diagmon.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app có hai nhóm use case. Ba dòng đầu là lỗi nghiệp vụ không gây FC hay ANR nên Diagmon không tự bắt được. Hai dòng cuối là các operation nên dùng performance logging: log riêng operation đó, xem report so sánh giữa các model, và tự đẩy log khi có abnormal. Danh sách cần team từng app xác nhận.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EOS: các app dùng default logging đã được loại bỏ khỏi Diagmon và chuyển sang DQA. Các app có lý do đặc biệt cần custom logging thì vẫn giữ nguyên. Lưu ý quan trọng: hiện chưa có thông tin về lộ trình chuyển custom logging sang DQA, sẽ cập nhật khi có thông báo.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10515600" cy="457200"/>
          </a:xfrm>
          <a:prstGeom prst="rect">
            <a:avLst/>
          </a:prstGeom>
          <a:noFill/>
          <a:ln/>
        </p:spPr>
        <p:txBody>
          <a:bodyPr wrap="square" rtlCol="0"/>
          <a:lstStyle>
            <a:lvl1pPr indent="0" marL="0">
              <a:buNone/>
              <a:defRPr lang="en-US" sz="1600" b="1" spc="300" kern="0" dirty="0">
                <a:solidFill>
                  <a:schemeClr val="accent2"/>
                </a:solidFill>
              </a:defRPr>
            </a:lvl1pPr>
          </a:lstStyle>
          <a:p>
            <a:pPr indent="0" marL="0">
              <a:buNone/>
            </a:pPr>
            <a:endParaRPr lang="en-US" sz="1600" dirty="0"/>
          </a:p>
        </p:txBody>
      </p:sp>
      <p:sp>
        <p:nvSpPr>
          <p:cNvPr id="3" name="Text 0"/>
          <p:cNvSpPr/>
          <p:nvPr>
            <p:ph idx="101" type="title" hasCustomPrompt="1"/>
          </p:nvPr>
        </p:nvSpPr>
        <p:spPr>
          <a:xfrm>
            <a:off x="731520" y="2286000"/>
            <a:ext cx="10515600" cy="1280160"/>
          </a:xfrm>
          <a:prstGeom prst="rect">
            <a:avLst/>
          </a:prstGeom>
          <a:noFill/>
          <a:ln/>
        </p:spPr>
        <p:txBody>
          <a:bodyPr wrap="square" rtlCol="0"/>
          <a:lstStyle>
            <a:lvl1pPr algn="l" indent="0" marL="0">
              <a:buNone/>
              <a:defRPr lang="en-US" sz="7200" b="1" dirty="0">
                <a:solidFill>
                  <a:schemeClr val="bg1"/>
                </a:solidFill>
              </a:defRPr>
            </a:lvl1pPr>
          </a:lstStyle>
          <a:p>
            <a:pPr algn="l" indent="0" marL="0">
              <a:buNone/>
            </a:pPr>
            <a:endParaRPr lang="en-US" sz="7200" dirty="0"/>
          </a:p>
        </p:txBody>
      </p:sp>
      <p:sp>
        <p:nvSpPr>
          <p:cNvPr id="4" name="Text 0"/>
          <p:cNvSpPr/>
          <p:nvPr>
            <p:ph idx="102" type="body" hasCustomPrompt="1"/>
          </p:nvPr>
        </p:nvSpPr>
        <p:spPr>
          <a:xfrm>
            <a:off x="731520" y="3657600"/>
            <a:ext cx="9601200" cy="1097280"/>
          </a:xfrm>
          <a:prstGeom prst="rect">
            <a:avLst/>
          </a:prstGeom>
          <a:noFill/>
          <a:ln/>
        </p:spPr>
        <p:txBody>
          <a:bodyPr wrap="square" rtlCol="0"/>
          <a:lstStyle>
            <a:lvl1pPr indent="0" marL="0">
              <a:buNone/>
              <a:defRPr lang="en-US" sz="2200" dirty="0">
                <a:solidFill>
                  <a:srgbClr val="C9D2E3"/>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65760"/>
          </a:xfrm>
          <a:prstGeom prst="rect">
            <a:avLst/>
          </a:prstGeom>
          <a:noFill/>
          <a:ln/>
        </p:spPr>
        <p:txBody>
          <a:bodyPr wrap="square" rtlCol="0"/>
          <a:lstStyle>
            <a:lvl1pPr indent="0" marL="0">
              <a:buNone/>
              <a:defRPr lang="en-US" sz="1300" b="1" spc="200" kern="0" dirty="0">
                <a:solidFill>
                  <a:schemeClr val="accent4"/>
                </a:solidFill>
              </a:defRPr>
            </a:lvl1pPr>
          </a:lstStyle>
          <a:p>
            <a:pPr indent="0" marL="0">
              <a:buNone/>
            </a:pPr>
            <a:endParaRPr lang="en-US" sz="1300" dirty="0"/>
          </a:p>
        </p:txBody>
      </p:sp>
      <p:sp>
        <p:nvSpPr>
          <p:cNvPr id="3" name="Text 0"/>
          <p:cNvSpPr/>
          <p:nvPr>
            <p:ph idx="101" type="title" hasCustomPrompt="1"/>
          </p:nvPr>
        </p:nvSpPr>
        <p:spPr>
          <a:xfrm>
            <a:off x="640080" y="777240"/>
            <a:ext cx="10881360" cy="73152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280"/>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2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10515600" cy="457200"/>
          </a:xfrm>
          <a:prstGeom prst="rect">
            <a:avLst/>
          </a:prstGeom>
          <a:noFill/>
          <a:ln/>
        </p:spPr>
        <p:txBody>
          <a:bodyPr wrap="square" rtlCol="0"/>
          <a:lstStyle/>
          <a:p>
            <a:pPr indent="0" marL="0">
              <a:buNone/>
            </a:pPr>
            <a:r>
              <a:rPr lang="en-US" sz="1600" b="1" spc="300" kern="0" dirty="0">
                <a:solidFill>
                  <a:schemeClr val="accent2"/>
                </a:solidFill>
              </a:rPr>
              <a:t>BÁO CÁO TỔNG HỢP</a:t>
            </a:r>
            <a:endParaRPr lang="en-US" sz="1600" dirty="0"/>
          </a:p>
        </p:txBody>
      </p:sp>
      <p:sp>
        <p:nvSpPr>
          <p:cNvPr id="3" name="Text 0"/>
          <p:cNvSpPr/>
          <p:nvPr>
            <p:ph idx="101" type="title" hasCustomPrompt="1"/>
          </p:nvPr>
        </p:nvSpPr>
        <p:spPr>
          <a:xfrm>
            <a:off x="731520" y="2286000"/>
            <a:ext cx="10515600" cy="1280160"/>
          </a:xfrm>
          <a:prstGeom prst="rect">
            <a:avLst/>
          </a:prstGeom>
          <a:noFill/>
          <a:ln/>
        </p:spPr>
        <p:txBody>
          <a:bodyPr wrap="square" rtlCol="0"/>
          <a:lstStyle/>
          <a:p>
            <a:pPr algn="l" indent="0" marL="0">
              <a:buNone/>
            </a:pPr>
            <a:r>
              <a:rPr lang="en-US" sz="7200" b="1" dirty="0">
                <a:solidFill>
                  <a:schemeClr val="bg1"/>
                </a:solidFill>
              </a:rPr>
              <a:t>Diagmon</a:t>
            </a:r>
            <a:endParaRPr lang="en-US" sz="7200" dirty="0"/>
          </a:p>
        </p:txBody>
      </p:sp>
      <p:sp>
        <p:nvSpPr>
          <p:cNvPr id="4" name="date"/>
          <p:cNvSpPr txBox="1"/>
          <p:nvPr/>
        </p:nvSpPr>
        <p:spPr>
          <a:xfrm>
            <a:off x="731520" y="6035040"/>
            <a:ext cx="4572000" cy="365760"/>
          </a:xfrm>
          <a:prstGeom prst="rect">
            <a:avLst/>
          </a:prstGeom>
          <a:noFill/>
          <a:ln/>
        </p:spPr>
        <p:txBody>
          <a:bodyPr wrap="square" lIns="0" tIns="0" rIns="0" bIns="0" rtlCol="0" anchor="ctr"/>
          <a:lstStyle/>
          <a:p>
            <a:pPr indent="0" marL="0">
              <a:buNone/>
            </a:pPr>
            <a:r>
              <a:rPr lang="en-US" sz="1200" dirty="0">
                <a:solidFill>
                  <a:srgbClr val="8E9AB3"/>
                </a:solidFill>
              </a:rPr>
              <a:t>Tháng 10/2026</a:t>
            </a:r>
            <a:endParaRPr lang="en-US" sz="1200" dirty="0"/>
          </a:p>
        </p:txBody>
      </p:sp>
      <p:sp>
        <p:nvSpPr>
          <p:cNvPr id="6" name="Text 0"/>
          <p:cNvSpPr/>
          <p:nvPr>
            <p:ph idx="102" type="body" hasCustomPrompt="1"/>
          </p:nvPr>
        </p:nvSpPr>
        <p:spPr>
          <a:xfrm>
            <a:off x="731520" y="3657600"/>
            <a:ext cx="9601200" cy="1097280"/>
          </a:xfrm>
          <a:prstGeom prst="rect">
            <a:avLst/>
          </a:prstGeom>
          <a:noFill/>
          <a:ln/>
        </p:spPr>
        <p:txBody>
          <a:bodyPr wrap="square" rtlCol="0" anchor="t"/>
          <a:lstStyle/>
          <a:p>
            <a:pPr indent="0" marL="0">
              <a:buNone/>
            </a:pP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65760"/>
          </a:xfrm>
          <a:prstGeom prst="rect">
            <a:avLst/>
          </a:prstGeom>
          <a:noFill/>
          <a:ln/>
        </p:spPr>
        <p:txBody>
          <a:bodyPr wrap="square" rtlCol="0"/>
          <a:lstStyle/>
          <a:p>
            <a:pPr indent="0" marL="0">
              <a:buNone/>
            </a:pPr>
            <a:r>
              <a:rPr lang="en-US" sz="1300" b="1" spc="200" kern="0" dirty="0">
                <a:solidFill>
                  <a:schemeClr val="accent4"/>
                </a:solidFill>
              </a:rPr>
              <a:t>01 · HIỆN TRẠNG</a:t>
            </a:r>
            <a:endParaRPr lang="en-US" sz="1300" dirty="0"/>
          </a:p>
        </p:txBody>
      </p:sp>
      <p:sp>
        <p:nvSpPr>
          <p:cNvPr id="3" name="Text 0"/>
          <p:cNvSpPr/>
          <p:nvPr>
            <p:ph idx="101" type="title" hasCustomPrompt="1"/>
          </p:nvPr>
        </p:nvSpPr>
        <p:spPr>
          <a:xfrm>
            <a:off x="640080" y="777240"/>
            <a:ext cx="10881360" cy="731520"/>
          </a:xfrm>
          <a:prstGeom prst="rect">
            <a:avLst/>
          </a:prstGeom>
          <a:noFill/>
          <a:ln/>
        </p:spPr>
        <p:txBody>
          <a:bodyPr wrap="square" rtlCol="0"/>
          <a:lstStyle/>
          <a:p>
            <a:pPr algn="l" indent="0" marL="0">
              <a:buNone/>
            </a:pPr>
            <a:r>
              <a:rPr lang="en-US" sz="3600" b="1" dirty="0">
                <a:solidFill>
                  <a:schemeClr val="tx2"/>
                </a:solidFill>
              </a:rPr>
              <a:t>Các app trong group và Diagmon</a:t>
            </a:r>
            <a:endParaRPr lang="en-US" sz="3600" dirty="0"/>
          </a:p>
        </p:txBody>
      </p:sp>
      <p:sp>
        <p:nvSpPr>
          <p:cNvPr id="4" name="card-VideoPlayer"/>
          <p:cNvSpPr/>
          <p:nvPr/>
        </p:nvSpPr>
        <p:spPr>
          <a:xfrm>
            <a:off x="640080" y="1828800"/>
            <a:ext cx="2560320" cy="2651760"/>
          </a:xfrm>
          <a:prstGeom prst="roundRect">
            <a:avLst>
              <a:gd name="adj" fmla="val 4286"/>
            </a:avLst>
          </a:prstGeom>
          <a:solidFill>
            <a:schemeClr val="bg1"/>
          </a:solidFill>
          <a:ln w="9525">
            <a:solidFill>
              <a:srgbClr val="E1DFD8"/>
            </a:solidFill>
            <a:prstDash val="solid"/>
          </a:ln>
          <a:effectLst>
            <a:outerShdw sx="100000" sy="100000" kx="0" ky="0" algn="bl" rotWithShape="0" blurRad="76200" dist="25400" dir="5400000">
              <a:srgbClr val="000000">
                <a:alpha val="8000"/>
              </a:srgbClr>
            </a:outerShdw>
          </a:effectLst>
        </p:spPr>
      </p:sp>
      <p:sp>
        <p:nvSpPr>
          <p:cNvPr id="5" name="name-VideoPlayer"/>
          <p:cNvSpPr txBox="1"/>
          <p:nvPr/>
        </p:nvSpPr>
        <p:spPr>
          <a:xfrm>
            <a:off x="914400" y="2148840"/>
            <a:ext cx="2011680" cy="457200"/>
          </a:xfrm>
          <a:prstGeom prst="rect">
            <a:avLst/>
          </a:prstGeom>
          <a:noFill/>
          <a:ln/>
        </p:spPr>
        <p:txBody>
          <a:bodyPr wrap="square" lIns="0" tIns="0" rIns="0" bIns="0" rtlCol="0" anchor="ctr"/>
          <a:lstStyle/>
          <a:p>
            <a:pPr indent="0" marL="0">
              <a:buNone/>
            </a:pPr>
            <a:r>
              <a:rPr lang="en-US" sz="2000" b="1" dirty="0">
                <a:solidFill>
                  <a:schemeClr val="tx2"/>
                </a:solidFill>
              </a:rPr>
              <a:t>VideoPlayer</a:t>
            </a:r>
            <a:endParaRPr lang="en-US" sz="2000" dirty="0"/>
          </a:p>
        </p:txBody>
      </p:sp>
      <p:sp>
        <p:nvSpPr>
          <p:cNvPr id="6" name="status-VideoPlayer"/>
          <p:cNvSpPr txBox="1"/>
          <p:nvPr/>
        </p:nvSpPr>
        <p:spPr>
          <a:xfrm>
            <a:off x="914400" y="2743200"/>
            <a:ext cx="1737360" cy="347472"/>
          </a:xfrm>
          <a:prstGeom prst="roundRect">
            <a:avLst>
              <a:gd name="adj" fmla="val 50000"/>
            </a:avLst>
          </a:prstGeom>
          <a:solidFill>
            <a:srgbClr val="ECEDF0"/>
          </a:solidFill>
          <a:ln/>
        </p:spPr>
        <p:txBody>
          <a:bodyPr wrap="square" lIns="0" tIns="0" rIns="0" bIns="0" rtlCol="0" anchor="ctr"/>
          <a:lstStyle/>
          <a:p>
            <a:pPr algn="ctr" indent="0" marL="0">
              <a:buNone/>
            </a:pPr>
            <a:r>
              <a:rPr lang="en-US" sz="1200" b="1" dirty="0">
                <a:solidFill>
                  <a:srgbClr val="4A5568"/>
                </a:solidFill>
              </a:rPr>
              <a:t>Không sử dụng</a:t>
            </a:r>
            <a:endParaRPr lang="en-US" sz="1200" dirty="0"/>
          </a:p>
        </p:txBody>
      </p:sp>
      <p:sp>
        <p:nvSpPr>
          <p:cNvPr id="7" name="desc-VideoPlayer"/>
          <p:cNvSpPr txBox="1"/>
          <p:nvPr/>
        </p:nvSpPr>
        <p:spPr>
          <a:xfrm>
            <a:off x="914400" y="3337560"/>
            <a:ext cx="2011680" cy="914400"/>
          </a:xfrm>
          <a:prstGeom prst="rect">
            <a:avLst/>
          </a:prstGeom>
          <a:noFill/>
          <a:ln/>
        </p:spPr>
        <p:txBody>
          <a:bodyPr wrap="square" lIns="0" tIns="0" rIns="0" bIns="0" rtlCol="0" anchor="t"/>
          <a:lstStyle/>
          <a:p>
            <a:pPr indent="0" marL="0">
              <a:buNone/>
            </a:pPr>
            <a:r>
              <a:rPr lang="en-US" sz="1500" dirty="0">
                <a:solidFill>
                  <a:schemeClr val="accent6"/>
                </a:solidFill>
              </a:rPr>
              <a:t>Không tích hợp Diagmon</a:t>
            </a:r>
            <a:endParaRPr lang="en-US" sz="1500" dirty="0"/>
          </a:p>
        </p:txBody>
      </p:sp>
      <p:sp>
        <p:nvSpPr>
          <p:cNvPr id="8" name="card-CollageEditor"/>
          <p:cNvSpPr/>
          <p:nvPr/>
        </p:nvSpPr>
        <p:spPr>
          <a:xfrm>
            <a:off x="3413455" y="1828800"/>
            <a:ext cx="2560320" cy="2651760"/>
          </a:xfrm>
          <a:prstGeom prst="roundRect">
            <a:avLst>
              <a:gd name="adj" fmla="val 4286"/>
            </a:avLst>
          </a:prstGeom>
          <a:solidFill>
            <a:schemeClr val="bg1"/>
          </a:solidFill>
          <a:ln w="9525">
            <a:solidFill>
              <a:srgbClr val="E1DFD8"/>
            </a:solidFill>
            <a:prstDash val="solid"/>
          </a:ln>
          <a:effectLst>
            <a:outerShdw sx="100000" sy="100000" kx="0" ky="0" algn="bl" rotWithShape="0" blurRad="76200" dist="25400" dir="5400000">
              <a:srgbClr val="000000">
                <a:alpha val="8000"/>
              </a:srgbClr>
            </a:outerShdw>
          </a:effectLst>
        </p:spPr>
      </p:sp>
      <p:sp>
        <p:nvSpPr>
          <p:cNvPr id="9" name="name-CollageEditor"/>
          <p:cNvSpPr txBox="1"/>
          <p:nvPr/>
        </p:nvSpPr>
        <p:spPr>
          <a:xfrm>
            <a:off x="3687775" y="2148840"/>
            <a:ext cx="2011680" cy="457200"/>
          </a:xfrm>
          <a:prstGeom prst="rect">
            <a:avLst/>
          </a:prstGeom>
          <a:noFill/>
          <a:ln/>
        </p:spPr>
        <p:txBody>
          <a:bodyPr wrap="square" lIns="0" tIns="0" rIns="0" bIns="0" rtlCol="0" anchor="ctr"/>
          <a:lstStyle/>
          <a:p>
            <a:pPr indent="0" marL="0">
              <a:buNone/>
            </a:pPr>
            <a:r>
              <a:rPr lang="en-US" sz="2000" b="1" dirty="0">
                <a:solidFill>
                  <a:schemeClr val="tx2"/>
                </a:solidFill>
              </a:rPr>
              <a:t>CollageEditor</a:t>
            </a:r>
            <a:endParaRPr lang="en-US" sz="2000" dirty="0"/>
          </a:p>
        </p:txBody>
      </p:sp>
      <p:sp>
        <p:nvSpPr>
          <p:cNvPr id="10" name="status-CollageEditor"/>
          <p:cNvSpPr txBox="1"/>
          <p:nvPr/>
        </p:nvSpPr>
        <p:spPr>
          <a:xfrm>
            <a:off x="3687775" y="2743200"/>
            <a:ext cx="1737360" cy="347472"/>
          </a:xfrm>
          <a:prstGeom prst="roundRect">
            <a:avLst>
              <a:gd name="adj" fmla="val 50000"/>
            </a:avLst>
          </a:prstGeom>
          <a:solidFill>
            <a:srgbClr val="ECEDF0"/>
          </a:solidFill>
          <a:ln/>
        </p:spPr>
        <p:txBody>
          <a:bodyPr wrap="square" lIns="0" tIns="0" rIns="0" bIns="0" rtlCol="0" anchor="ctr"/>
          <a:lstStyle/>
          <a:p>
            <a:pPr algn="ctr" indent="0" marL="0">
              <a:buNone/>
            </a:pPr>
            <a:r>
              <a:rPr lang="en-US" sz="1200" b="1" dirty="0">
                <a:solidFill>
                  <a:srgbClr val="4A5568"/>
                </a:solidFill>
              </a:rPr>
              <a:t>Không sử dụng</a:t>
            </a:r>
            <a:endParaRPr lang="en-US" sz="1200" dirty="0"/>
          </a:p>
        </p:txBody>
      </p:sp>
      <p:sp>
        <p:nvSpPr>
          <p:cNvPr id="11" name="desc-CollageEditor"/>
          <p:cNvSpPr txBox="1"/>
          <p:nvPr/>
        </p:nvSpPr>
        <p:spPr>
          <a:xfrm>
            <a:off x="3687775" y="3337560"/>
            <a:ext cx="2011680" cy="914400"/>
          </a:xfrm>
          <a:prstGeom prst="rect">
            <a:avLst/>
          </a:prstGeom>
          <a:noFill/>
          <a:ln/>
        </p:spPr>
        <p:txBody>
          <a:bodyPr wrap="square" lIns="0" tIns="0" rIns="0" bIns="0" rtlCol="0" anchor="t"/>
          <a:lstStyle/>
          <a:p>
            <a:pPr indent="0" marL="0">
              <a:buNone/>
            </a:pPr>
            <a:r>
              <a:rPr lang="en-US" sz="1500" dirty="0">
                <a:solidFill>
                  <a:schemeClr val="accent6"/>
                </a:solidFill>
              </a:rPr>
              <a:t>Không tích hợp Diagmon</a:t>
            </a:r>
            <a:endParaRPr lang="en-US" sz="1500" dirty="0"/>
          </a:p>
        </p:txBody>
      </p:sp>
      <p:sp>
        <p:nvSpPr>
          <p:cNvPr id="12" name="card-SmartView"/>
          <p:cNvSpPr/>
          <p:nvPr/>
        </p:nvSpPr>
        <p:spPr>
          <a:xfrm>
            <a:off x="6186830" y="1828800"/>
            <a:ext cx="2560320" cy="2651760"/>
          </a:xfrm>
          <a:prstGeom prst="roundRect">
            <a:avLst>
              <a:gd name="adj" fmla="val 4286"/>
            </a:avLst>
          </a:prstGeom>
          <a:solidFill>
            <a:schemeClr val="bg1"/>
          </a:solidFill>
          <a:ln w="9525">
            <a:solidFill>
              <a:srgbClr val="E1DFD8"/>
            </a:solidFill>
            <a:prstDash val="solid"/>
          </a:ln>
          <a:effectLst>
            <a:outerShdw sx="100000" sy="100000" kx="0" ky="0" algn="bl" rotWithShape="0" blurRad="76200" dist="25400" dir="5400000">
              <a:srgbClr val="000000">
                <a:alpha val="8000"/>
              </a:srgbClr>
            </a:outerShdw>
          </a:effectLst>
        </p:spPr>
      </p:sp>
      <p:sp>
        <p:nvSpPr>
          <p:cNvPr id="13" name="name-SmartView"/>
          <p:cNvSpPr txBox="1"/>
          <p:nvPr/>
        </p:nvSpPr>
        <p:spPr>
          <a:xfrm>
            <a:off x="6461150" y="2148840"/>
            <a:ext cx="2011680" cy="457200"/>
          </a:xfrm>
          <a:prstGeom prst="rect">
            <a:avLst/>
          </a:prstGeom>
          <a:noFill/>
          <a:ln/>
        </p:spPr>
        <p:txBody>
          <a:bodyPr wrap="square" lIns="0" tIns="0" rIns="0" bIns="0" rtlCol="0" anchor="ctr"/>
          <a:lstStyle/>
          <a:p>
            <a:pPr indent="0" marL="0">
              <a:buNone/>
            </a:pPr>
            <a:r>
              <a:rPr lang="en-US" sz="2000" b="1" dirty="0">
                <a:solidFill>
                  <a:schemeClr val="tx2"/>
                </a:solidFill>
              </a:rPr>
              <a:t>SmartView</a:t>
            </a:r>
            <a:endParaRPr lang="en-US" sz="2000" dirty="0"/>
          </a:p>
        </p:txBody>
      </p:sp>
      <p:sp>
        <p:nvSpPr>
          <p:cNvPr id="14" name="status-SmartView"/>
          <p:cNvSpPr txBox="1"/>
          <p:nvPr/>
        </p:nvSpPr>
        <p:spPr>
          <a:xfrm>
            <a:off x="6461150" y="2743200"/>
            <a:ext cx="1737360" cy="347472"/>
          </a:xfrm>
          <a:prstGeom prst="roundRect">
            <a:avLst>
              <a:gd name="adj" fmla="val 50000"/>
            </a:avLst>
          </a:prstGeom>
          <a:solidFill>
            <a:srgbClr val="E1ECF7"/>
          </a:solidFill>
          <a:ln/>
        </p:spPr>
        <p:txBody>
          <a:bodyPr wrap="square" lIns="0" tIns="0" rIns="0" bIns="0" rtlCol="0" anchor="ctr"/>
          <a:lstStyle/>
          <a:p>
            <a:pPr algn="ctr" indent="0" marL="0">
              <a:buNone/>
            </a:pPr>
            <a:r>
              <a:rPr lang="en-US" sz="1200" b="1" dirty="0">
                <a:solidFill>
                  <a:srgbClr val="1F4E80"/>
                </a:solidFill>
              </a:rPr>
              <a:t>Chuyển sang DQA</a:t>
            </a:r>
            <a:endParaRPr lang="en-US" sz="1200" dirty="0"/>
          </a:p>
        </p:txBody>
      </p:sp>
      <p:sp>
        <p:nvSpPr>
          <p:cNvPr id="15" name="desc-SmartView"/>
          <p:cNvSpPr txBox="1"/>
          <p:nvPr/>
        </p:nvSpPr>
        <p:spPr>
          <a:xfrm>
            <a:off x="6461150" y="3337560"/>
            <a:ext cx="2011680" cy="914400"/>
          </a:xfrm>
          <a:prstGeom prst="rect">
            <a:avLst/>
          </a:prstGeom>
          <a:noFill/>
          <a:ln/>
        </p:spPr>
        <p:txBody>
          <a:bodyPr wrap="square" lIns="0" tIns="0" rIns="0" bIns="0" rtlCol="0" anchor="t"/>
          <a:lstStyle/>
          <a:p>
            <a:pPr indent="0" marL="0">
              <a:buNone/>
            </a:pPr>
            <a:r>
              <a:rPr lang="en-US" sz="1500" dirty="0">
                <a:solidFill>
                  <a:schemeClr val="accent6"/>
                </a:solidFill>
              </a:rPr>
              <a:t>Dùng </a:t>
            </a:r>
            <a:pPr indent="0" marL="0">
              <a:buNone/>
            </a:pPr>
            <a:r>
              <a:rPr lang="en-US" sz="1500" b="1" dirty="0">
                <a:solidFill>
                  <a:schemeClr val="accent6"/>
                </a:solidFill>
              </a:rPr>
              <a:t>default logging</a:t>
            </a:r>
            <a:pPr indent="0" marL="0">
              <a:buNone/>
            </a:pPr>
            <a:r>
              <a:rPr lang="en-US" sz="1500" dirty="0">
                <a:solidFill>
                  <a:schemeClr val="accent6"/>
                </a:solidFill>
              </a:rPr>
              <a:t> nên đã chuyển về DQA</a:t>
            </a:r>
            <a:endParaRPr lang="en-US" sz="1500" dirty="0"/>
          </a:p>
        </p:txBody>
      </p:sp>
      <p:sp>
        <p:nvSpPr>
          <p:cNvPr id="16" name="card-Gallery"/>
          <p:cNvSpPr/>
          <p:nvPr/>
        </p:nvSpPr>
        <p:spPr>
          <a:xfrm>
            <a:off x="8960206" y="1828800"/>
            <a:ext cx="2560320" cy="2651760"/>
          </a:xfrm>
          <a:prstGeom prst="roundRect">
            <a:avLst>
              <a:gd name="adj" fmla="val 4286"/>
            </a:avLst>
          </a:prstGeom>
          <a:solidFill>
            <a:schemeClr val="bg1"/>
          </a:solidFill>
          <a:ln w="9525">
            <a:solidFill>
              <a:srgbClr val="E1DFD8"/>
            </a:solidFill>
            <a:prstDash val="solid"/>
          </a:ln>
          <a:effectLst>
            <a:outerShdw sx="100000" sy="100000" kx="0" ky="0" algn="bl" rotWithShape="0" blurRad="76200" dist="25400" dir="5400000">
              <a:srgbClr val="000000">
                <a:alpha val="8000"/>
              </a:srgbClr>
            </a:outerShdw>
          </a:effectLst>
        </p:spPr>
      </p:sp>
      <p:sp>
        <p:nvSpPr>
          <p:cNvPr id="17" name="name-Gallery"/>
          <p:cNvSpPr txBox="1"/>
          <p:nvPr/>
        </p:nvSpPr>
        <p:spPr>
          <a:xfrm>
            <a:off x="9234526" y="2148840"/>
            <a:ext cx="2011680" cy="457200"/>
          </a:xfrm>
          <a:prstGeom prst="rect">
            <a:avLst/>
          </a:prstGeom>
          <a:noFill/>
          <a:ln/>
        </p:spPr>
        <p:txBody>
          <a:bodyPr wrap="square" lIns="0" tIns="0" rIns="0" bIns="0" rtlCol="0" anchor="ctr"/>
          <a:lstStyle/>
          <a:p>
            <a:pPr indent="0" marL="0">
              <a:buNone/>
            </a:pPr>
            <a:r>
              <a:rPr lang="en-US" sz="2000" b="1" dirty="0">
                <a:solidFill>
                  <a:schemeClr val="tx2"/>
                </a:solidFill>
              </a:rPr>
              <a:t>Gallery</a:t>
            </a:r>
            <a:endParaRPr lang="en-US" sz="2000" dirty="0"/>
          </a:p>
        </p:txBody>
      </p:sp>
      <p:sp>
        <p:nvSpPr>
          <p:cNvPr id="18" name="status-Gallery"/>
          <p:cNvSpPr txBox="1"/>
          <p:nvPr/>
        </p:nvSpPr>
        <p:spPr>
          <a:xfrm>
            <a:off x="9234526" y="2743200"/>
            <a:ext cx="1737360" cy="347472"/>
          </a:xfrm>
          <a:prstGeom prst="roundRect">
            <a:avLst>
              <a:gd name="adj" fmla="val 50000"/>
            </a:avLst>
          </a:prstGeom>
          <a:solidFill>
            <a:srgbClr val="FBE9DA"/>
          </a:solidFill>
          <a:ln/>
        </p:spPr>
        <p:txBody>
          <a:bodyPr wrap="square" lIns="0" tIns="0" rIns="0" bIns="0" rtlCol="0" anchor="ctr"/>
          <a:lstStyle/>
          <a:p>
            <a:pPr algn="ctr" indent="0" marL="0">
              <a:buNone/>
            </a:pPr>
            <a:r>
              <a:rPr lang="en-US" sz="1200" b="1" dirty="0">
                <a:solidFill>
                  <a:srgbClr val="8A4310"/>
                </a:solidFill>
              </a:rPr>
              <a:t>Custom logging</a:t>
            </a:r>
            <a:endParaRPr lang="en-US" sz="1200" dirty="0"/>
          </a:p>
        </p:txBody>
      </p:sp>
      <p:sp>
        <p:nvSpPr>
          <p:cNvPr id="19" name="desc-Gallery"/>
          <p:cNvSpPr txBox="1"/>
          <p:nvPr/>
        </p:nvSpPr>
        <p:spPr>
          <a:xfrm>
            <a:off x="9234526" y="3337560"/>
            <a:ext cx="2011680" cy="914400"/>
          </a:xfrm>
          <a:prstGeom prst="rect">
            <a:avLst/>
          </a:prstGeom>
          <a:noFill/>
          <a:ln/>
        </p:spPr>
        <p:txBody>
          <a:bodyPr wrap="square" lIns="0" tIns="0" rIns="0" bIns="0" rtlCol="0" anchor="t"/>
          <a:lstStyle/>
          <a:p>
            <a:pPr indent="0" marL="0">
              <a:buNone/>
            </a:pPr>
            <a:r>
              <a:rPr lang="en-US" sz="1500" dirty="0">
                <a:solidFill>
                  <a:schemeClr val="accent6"/>
                </a:solidFill>
              </a:rPr>
              <a:t>Dùng </a:t>
            </a:r>
            <a:pPr indent="0" marL="0">
              <a:buNone/>
            </a:pPr>
            <a:r>
              <a:rPr lang="en-US" sz="1500" b="1" dirty="0">
                <a:solidFill>
                  <a:schemeClr val="accent6"/>
                </a:solidFill>
              </a:rPr>
              <a:t>custom logging</a:t>
            </a:r>
            <a:pPr indent="0" marL="0">
              <a:buNone/>
            </a:pPr>
            <a:r>
              <a:rPr lang="en-US" sz="1500" dirty="0">
                <a:solidFill>
                  <a:schemeClr val="accent6"/>
                </a:solidFill>
              </a:rPr>
              <a:t>, vẫn ở lại Diagmon</a:t>
            </a:r>
            <a:endParaRPr lang="en-US" sz="1500" dirty="0"/>
          </a:p>
        </p:txBody>
      </p:sp>
      <p:sp>
        <p:nvSpPr>
          <p:cNvPr id="20" name="summary"/>
          <p:cNvSpPr txBox="1"/>
          <p:nvPr/>
        </p:nvSpPr>
        <p:spPr>
          <a:xfrm>
            <a:off x="640080" y="4754880"/>
            <a:ext cx="10881360" cy="365760"/>
          </a:xfrm>
          <a:prstGeom prst="rect">
            <a:avLst/>
          </a:prstGeom>
          <a:noFill/>
          <a:ln/>
        </p:spPr>
        <p:txBody>
          <a:bodyPr wrap="square" lIns="0" tIns="0" rIns="0" bIns="0" rtlCol="0" anchor="ctr"/>
          <a:lstStyle/>
          <a:p>
            <a:pPr indent="0" marL="0">
              <a:buNone/>
            </a:pPr>
            <a:r>
              <a:rPr lang="en-US" sz="1300" dirty="0">
                <a:solidFill>
                  <a:srgbClr val="6A7280"/>
                </a:solidFill>
              </a:rPr>
              <a:t>Tổng: 4 app · 2 không sử dụng · 1 chuyển DQA · 1 dùng custom logging</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2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65760"/>
          </a:xfrm>
          <a:prstGeom prst="rect">
            <a:avLst/>
          </a:prstGeom>
          <a:noFill/>
          <a:ln/>
        </p:spPr>
        <p:txBody>
          <a:bodyPr wrap="square" rtlCol="0"/>
          <a:lstStyle/>
          <a:p>
            <a:pPr indent="0" marL="0">
              <a:buNone/>
            </a:pPr>
            <a:r>
              <a:rPr lang="en-US" sz="1300" b="1" spc="200" kern="0" dirty="0">
                <a:solidFill>
                  <a:schemeClr val="accent4"/>
                </a:solidFill>
              </a:rPr>
              <a:t>02 · USE CASE</a:t>
            </a:r>
            <a:endParaRPr lang="en-US" sz="1300" dirty="0"/>
          </a:p>
        </p:txBody>
      </p:sp>
      <p:sp>
        <p:nvSpPr>
          <p:cNvPr id="3" name="Text 0"/>
          <p:cNvSpPr/>
          <p:nvPr>
            <p:ph idx="101" type="title" hasCustomPrompt="1"/>
          </p:nvPr>
        </p:nvSpPr>
        <p:spPr>
          <a:xfrm>
            <a:off x="640080" y="777240"/>
            <a:ext cx="10881360" cy="731520"/>
          </a:xfrm>
          <a:prstGeom prst="rect">
            <a:avLst/>
          </a:prstGeom>
          <a:noFill/>
          <a:ln/>
        </p:spPr>
        <p:txBody>
          <a:bodyPr wrap="square" rtlCol="0"/>
          <a:lstStyle/>
          <a:p>
            <a:pPr algn="l" indent="0" marL="0">
              <a:buNone/>
            </a:pPr>
            <a:r>
              <a:rPr lang="en-US" sz="3600" b="1" dirty="0">
                <a:solidFill>
                  <a:schemeClr val="tx2"/>
                </a:solidFill>
              </a:rPr>
              <a:t>Use case nên dùng custom logging</a:t>
            </a:r>
            <a:endParaRPr lang="en-US" sz="3600" dirty="0"/>
          </a:p>
        </p:txBody>
      </p:sp>
      <p:sp>
        <p:nvSpPr>
          <p:cNvPr id="4" name="uc-card-VideoPlayer"/>
          <p:cNvSpPr/>
          <p:nvPr/>
        </p:nvSpPr>
        <p:spPr>
          <a:xfrm>
            <a:off x="640080" y="1828800"/>
            <a:ext cx="2560320" cy="3794760"/>
          </a:xfrm>
          <a:prstGeom prst="roundRect">
            <a:avLst>
              <a:gd name="adj" fmla="val 4286"/>
            </a:avLst>
          </a:prstGeom>
          <a:solidFill>
            <a:schemeClr val="bg1"/>
          </a:solidFill>
          <a:ln w="9525">
            <a:solidFill>
              <a:srgbClr val="E1DFD8"/>
            </a:solidFill>
            <a:prstDash val="solid"/>
          </a:ln>
          <a:effectLst>
            <a:outerShdw sx="100000" sy="100000" kx="0" ky="0" algn="bl" rotWithShape="0" blurRad="76200" dist="25400" dir="5400000">
              <a:srgbClr val="000000">
                <a:alpha val="8000"/>
              </a:srgbClr>
            </a:outerShdw>
          </a:effectLst>
        </p:spPr>
      </p:sp>
      <p:sp>
        <p:nvSpPr>
          <p:cNvPr id="5" name="uc-name-VideoPlayer"/>
          <p:cNvSpPr txBox="1"/>
          <p:nvPr/>
        </p:nvSpPr>
        <p:spPr>
          <a:xfrm>
            <a:off x="914400" y="2103120"/>
            <a:ext cx="2011680" cy="457200"/>
          </a:xfrm>
          <a:prstGeom prst="rect">
            <a:avLst/>
          </a:prstGeom>
          <a:noFill/>
          <a:ln/>
        </p:spPr>
        <p:txBody>
          <a:bodyPr wrap="square" lIns="0" tIns="0" rIns="0" bIns="0" rtlCol="0" anchor="ctr"/>
          <a:lstStyle/>
          <a:p>
            <a:pPr indent="0" marL="0">
              <a:buNone/>
            </a:pPr>
            <a:r>
              <a:rPr lang="en-US" sz="2000" b="1" dirty="0">
                <a:solidFill>
                  <a:schemeClr val="tx2"/>
                </a:solidFill>
              </a:rPr>
              <a:t>VideoPlayer</a:t>
            </a:r>
            <a:endParaRPr lang="en-US" sz="2000" dirty="0"/>
          </a:p>
        </p:txBody>
      </p:sp>
      <p:sp>
        <p:nvSpPr>
          <p:cNvPr id="6" name="uc-list-VideoPlayer"/>
          <p:cNvSpPr txBox="1"/>
          <p:nvPr/>
        </p:nvSpPr>
        <p:spPr>
          <a:xfrm>
            <a:off x="914400" y="2651760"/>
            <a:ext cx="2103120" cy="26517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accent6"/>
                </a:solidFill>
              </a:rPr>
              <a:t>Không decode được video (codec không hỗ trợ)</a:t>
            </a:r>
            <a:endParaRPr lang="en-US" sz="1400" dirty="0"/>
          </a:p>
          <a:p>
            <a:pPr marL="177800" indent="-177800">
              <a:spcAft>
                <a:spcPts val="700"/>
              </a:spcAft>
              <a:buSzPct val="100000"/>
              <a:buChar char="•"/>
            </a:pPr>
            <a:r>
              <a:rPr lang="en-US" sz="1400" dirty="0">
                <a:solidFill>
                  <a:schemeClr val="accent6"/>
                </a:solidFill>
              </a:rPr>
              <a:t>Mở file thất bại</a:t>
            </a:r>
            <a:endParaRPr lang="en-US" sz="1400" dirty="0"/>
          </a:p>
          <a:p>
            <a:pPr marL="177800" indent="-177800">
              <a:spcAft>
                <a:spcPts val="700"/>
              </a:spcAft>
              <a:buSzPct val="100000"/>
              <a:buChar char="•"/>
            </a:pPr>
            <a:r>
              <a:rPr lang="en-US" sz="1400" dirty="0">
                <a:solidFill>
                  <a:schemeClr val="accent6"/>
                </a:solidFill>
              </a:rPr>
              <a:t>Load phụ đề thất bại</a:t>
            </a:r>
            <a:endParaRPr lang="en-US" sz="1400" dirty="0"/>
          </a:p>
          <a:p>
            <a:pPr marL="177800" indent="-177800">
              <a:spcAft>
                <a:spcPts val="700"/>
              </a:spcAft>
              <a:buSzPct val="100000"/>
              <a:buChar char="•"/>
            </a:pPr>
            <a:r>
              <a:rPr lang="en-US" sz="1400" dirty="0">
                <a:solidFill>
                  <a:schemeClr val="accent6"/>
                </a:solidFill>
              </a:rPr>
              <a:t>Mở video chậm bất thường trên một số model</a:t>
            </a:r>
            <a:endParaRPr lang="en-US" sz="1400" dirty="0"/>
          </a:p>
          <a:p>
            <a:pPr marL="177800" indent="-177800">
              <a:spcAft>
                <a:spcPts val="700"/>
              </a:spcAft>
              <a:buSzPct val="100000"/>
              <a:buChar char="•"/>
            </a:pPr>
            <a:r>
              <a:rPr lang="en-US" sz="1400" dirty="0">
                <a:solidFill>
                  <a:schemeClr val="accent6"/>
                </a:solidFill>
              </a:rPr>
              <a:t>Thời gian prepare / seek vượt ngưỡng</a:t>
            </a:r>
            <a:endParaRPr lang="en-US" sz="1400" dirty="0"/>
          </a:p>
        </p:txBody>
      </p:sp>
      <p:sp>
        <p:nvSpPr>
          <p:cNvPr id="7" name="uc-card-CollageEditor"/>
          <p:cNvSpPr/>
          <p:nvPr/>
        </p:nvSpPr>
        <p:spPr>
          <a:xfrm>
            <a:off x="3413455" y="1828800"/>
            <a:ext cx="2560320" cy="3794760"/>
          </a:xfrm>
          <a:prstGeom prst="roundRect">
            <a:avLst>
              <a:gd name="adj" fmla="val 4286"/>
            </a:avLst>
          </a:prstGeom>
          <a:solidFill>
            <a:schemeClr val="bg1"/>
          </a:solidFill>
          <a:ln w="9525">
            <a:solidFill>
              <a:srgbClr val="E1DFD8"/>
            </a:solidFill>
            <a:prstDash val="solid"/>
          </a:ln>
          <a:effectLst>
            <a:outerShdw sx="100000" sy="100000" kx="0" ky="0" algn="bl" rotWithShape="0" blurRad="76200" dist="25400" dir="5400000">
              <a:srgbClr val="000000">
                <a:alpha val="8000"/>
              </a:srgbClr>
            </a:outerShdw>
          </a:effectLst>
        </p:spPr>
      </p:sp>
      <p:sp>
        <p:nvSpPr>
          <p:cNvPr id="8" name="uc-name-CollageEditor"/>
          <p:cNvSpPr txBox="1"/>
          <p:nvPr/>
        </p:nvSpPr>
        <p:spPr>
          <a:xfrm>
            <a:off x="3687775" y="2103120"/>
            <a:ext cx="2011680" cy="457200"/>
          </a:xfrm>
          <a:prstGeom prst="rect">
            <a:avLst/>
          </a:prstGeom>
          <a:noFill/>
          <a:ln/>
        </p:spPr>
        <p:txBody>
          <a:bodyPr wrap="square" lIns="0" tIns="0" rIns="0" bIns="0" rtlCol="0" anchor="ctr"/>
          <a:lstStyle/>
          <a:p>
            <a:pPr indent="0" marL="0">
              <a:buNone/>
            </a:pPr>
            <a:r>
              <a:rPr lang="en-US" sz="2000" b="1" dirty="0">
                <a:solidFill>
                  <a:schemeClr val="tx2"/>
                </a:solidFill>
              </a:rPr>
              <a:t>CollageEditor</a:t>
            </a:r>
            <a:endParaRPr lang="en-US" sz="2000" dirty="0"/>
          </a:p>
        </p:txBody>
      </p:sp>
      <p:sp>
        <p:nvSpPr>
          <p:cNvPr id="9" name="uc-list-CollageEditor"/>
          <p:cNvSpPr txBox="1"/>
          <p:nvPr/>
        </p:nvSpPr>
        <p:spPr>
          <a:xfrm>
            <a:off x="3687775" y="2651760"/>
            <a:ext cx="2103120" cy="26517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accent6"/>
                </a:solidFill>
              </a:rPr>
              <a:t>Export / lưu collage thất bại</a:t>
            </a:r>
            <a:endParaRPr lang="en-US" sz="1400" dirty="0"/>
          </a:p>
          <a:p>
            <a:pPr marL="177800" indent="-177800">
              <a:spcAft>
                <a:spcPts val="700"/>
              </a:spcAft>
              <a:buSzPct val="100000"/>
              <a:buChar char="•"/>
            </a:pPr>
            <a:r>
              <a:rPr lang="en-US" sz="1400" dirty="0">
                <a:solidFill>
                  <a:schemeClr val="accent6"/>
                </a:solidFill>
              </a:rPr>
              <a:t>Load ảnh nguồn lỗi</a:t>
            </a:r>
            <a:endParaRPr lang="en-US" sz="1400" dirty="0"/>
          </a:p>
          <a:p>
            <a:pPr marL="177800" indent="-177800">
              <a:spcAft>
                <a:spcPts val="700"/>
              </a:spcAft>
              <a:buSzPct val="100000"/>
              <a:buChar char="•"/>
            </a:pPr>
            <a:r>
              <a:rPr lang="en-US" sz="1400" dirty="0">
                <a:solidFill>
                  <a:schemeClr val="accent6"/>
                </a:solidFill>
              </a:rPr>
              <a:t>OOM khi render (được catch)</a:t>
            </a:r>
            <a:endParaRPr lang="en-US" sz="1400" dirty="0"/>
          </a:p>
          <a:p>
            <a:pPr marL="177800" indent="-177800">
              <a:spcAft>
                <a:spcPts val="700"/>
              </a:spcAft>
              <a:buSzPct val="100000"/>
              <a:buChar char="•"/>
            </a:pPr>
            <a:r>
              <a:rPr lang="en-US" sz="1400" dirty="0">
                <a:solidFill>
                  <a:schemeClr val="accent6"/>
                </a:solidFill>
              </a:rPr>
              <a:t>Export chậm bất thường trên model cấu hình thấp</a:t>
            </a:r>
            <a:endParaRPr lang="en-US" sz="1400" dirty="0"/>
          </a:p>
          <a:p>
            <a:pPr marL="177800" indent="-177800">
              <a:spcAft>
                <a:spcPts val="700"/>
              </a:spcAft>
              <a:buSzPct val="100000"/>
              <a:buChar char="•"/>
            </a:pPr>
            <a:r>
              <a:rPr lang="en-US" sz="1400" dirty="0">
                <a:solidFill>
                  <a:schemeClr val="accent6"/>
                </a:solidFill>
              </a:rPr>
              <a:t>Render collage nhiều ảnh mất quá lâu</a:t>
            </a:r>
            <a:endParaRPr lang="en-US" sz="1400" dirty="0"/>
          </a:p>
        </p:txBody>
      </p:sp>
      <p:sp>
        <p:nvSpPr>
          <p:cNvPr id="10" name="uc-card-SmartView"/>
          <p:cNvSpPr/>
          <p:nvPr/>
        </p:nvSpPr>
        <p:spPr>
          <a:xfrm>
            <a:off x="6186830" y="1828800"/>
            <a:ext cx="2560320" cy="3794760"/>
          </a:xfrm>
          <a:prstGeom prst="roundRect">
            <a:avLst>
              <a:gd name="adj" fmla="val 4286"/>
            </a:avLst>
          </a:prstGeom>
          <a:solidFill>
            <a:schemeClr val="bg1"/>
          </a:solidFill>
          <a:ln w="9525">
            <a:solidFill>
              <a:srgbClr val="E1DFD8"/>
            </a:solidFill>
            <a:prstDash val="solid"/>
          </a:ln>
          <a:effectLst>
            <a:outerShdw sx="100000" sy="100000" kx="0" ky="0" algn="bl" rotWithShape="0" blurRad="76200" dist="25400" dir="5400000">
              <a:srgbClr val="000000">
                <a:alpha val="8000"/>
              </a:srgbClr>
            </a:outerShdw>
          </a:effectLst>
        </p:spPr>
      </p:sp>
      <p:sp>
        <p:nvSpPr>
          <p:cNvPr id="11" name="uc-name-SmartView"/>
          <p:cNvSpPr txBox="1"/>
          <p:nvPr/>
        </p:nvSpPr>
        <p:spPr>
          <a:xfrm>
            <a:off x="6461150" y="2103120"/>
            <a:ext cx="2011680" cy="457200"/>
          </a:xfrm>
          <a:prstGeom prst="rect">
            <a:avLst/>
          </a:prstGeom>
          <a:noFill/>
          <a:ln/>
        </p:spPr>
        <p:txBody>
          <a:bodyPr wrap="square" lIns="0" tIns="0" rIns="0" bIns="0" rtlCol="0" anchor="ctr"/>
          <a:lstStyle/>
          <a:p>
            <a:pPr indent="0" marL="0">
              <a:buNone/>
            </a:pPr>
            <a:r>
              <a:rPr lang="en-US" sz="2000" b="1" dirty="0">
                <a:solidFill>
                  <a:schemeClr val="tx2"/>
                </a:solidFill>
              </a:rPr>
              <a:t>SmartView</a:t>
            </a:r>
            <a:endParaRPr lang="en-US" sz="2000" dirty="0"/>
          </a:p>
        </p:txBody>
      </p:sp>
      <p:sp>
        <p:nvSpPr>
          <p:cNvPr id="12" name="uc-list-SmartView"/>
          <p:cNvSpPr txBox="1"/>
          <p:nvPr/>
        </p:nvSpPr>
        <p:spPr>
          <a:xfrm>
            <a:off x="6461150" y="2651760"/>
            <a:ext cx="2103120" cy="26517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accent6"/>
                </a:solidFill>
              </a:rPr>
              <a:t>Không tìm thấy TV / thiết bị</a:t>
            </a:r>
            <a:endParaRPr lang="en-US" sz="1400" dirty="0"/>
          </a:p>
          <a:p>
            <a:pPr marL="177800" indent="-177800">
              <a:spcAft>
                <a:spcPts val="700"/>
              </a:spcAft>
              <a:buSzPct val="100000"/>
              <a:buChar char="•"/>
            </a:pPr>
            <a:r>
              <a:rPr lang="en-US" sz="1400" dirty="0">
                <a:solidFill>
                  <a:schemeClr val="accent6"/>
                </a:solidFill>
              </a:rPr>
              <a:t>Kết nối mirroring thất bại</a:t>
            </a:r>
            <a:endParaRPr lang="en-US" sz="1400" dirty="0"/>
          </a:p>
          <a:p>
            <a:pPr marL="177800" indent="-177800">
              <a:spcAft>
                <a:spcPts val="700"/>
              </a:spcAft>
              <a:buSzPct val="100000"/>
              <a:buChar char="•"/>
            </a:pPr>
            <a:r>
              <a:rPr lang="en-US" sz="1400" dirty="0">
                <a:solidFill>
                  <a:schemeClr val="accent6"/>
                </a:solidFill>
              </a:rPr>
              <a:t>Mất kết nối giữa chừng</a:t>
            </a:r>
            <a:endParaRPr lang="en-US" sz="1400" dirty="0"/>
          </a:p>
          <a:p>
            <a:pPr marL="177800" indent="-177800">
              <a:spcAft>
                <a:spcPts val="700"/>
              </a:spcAft>
              <a:buSzPct val="100000"/>
              <a:buChar char="•"/>
            </a:pPr>
            <a:r>
              <a:rPr lang="en-US" sz="1400" dirty="0">
                <a:solidFill>
                  <a:schemeClr val="accent6"/>
                </a:solidFill>
              </a:rPr>
              <a:t>Kết nối lâu bất thường, so sánh theo model</a:t>
            </a:r>
            <a:endParaRPr lang="en-US" sz="1400" dirty="0"/>
          </a:p>
          <a:p>
            <a:pPr marL="177800" indent="-177800">
              <a:spcAft>
                <a:spcPts val="700"/>
              </a:spcAft>
              <a:buSzPct val="100000"/>
              <a:buChar char="•"/>
            </a:pPr>
            <a:r>
              <a:rPr lang="en-US" sz="1400" dirty="0">
                <a:solidFill>
                  <a:schemeClr val="accent6"/>
                </a:solidFill>
              </a:rPr>
              <a:t>Mirroring bị trễ / giật hình</a:t>
            </a:r>
            <a:endParaRPr lang="en-US" sz="1400" dirty="0"/>
          </a:p>
        </p:txBody>
      </p:sp>
      <p:sp>
        <p:nvSpPr>
          <p:cNvPr id="13" name="uc-card-Gallery"/>
          <p:cNvSpPr/>
          <p:nvPr/>
        </p:nvSpPr>
        <p:spPr>
          <a:xfrm>
            <a:off x="8960206" y="1828800"/>
            <a:ext cx="2560320" cy="3794760"/>
          </a:xfrm>
          <a:prstGeom prst="roundRect">
            <a:avLst>
              <a:gd name="adj" fmla="val 4286"/>
            </a:avLst>
          </a:prstGeom>
          <a:solidFill>
            <a:schemeClr val="bg1"/>
          </a:solidFill>
          <a:ln w="9525">
            <a:solidFill>
              <a:srgbClr val="E1DFD8"/>
            </a:solidFill>
            <a:prstDash val="solid"/>
          </a:ln>
          <a:effectLst>
            <a:outerShdw sx="100000" sy="100000" kx="0" ky="0" algn="bl" rotWithShape="0" blurRad="76200" dist="25400" dir="5400000">
              <a:srgbClr val="000000">
                <a:alpha val="8000"/>
              </a:srgbClr>
            </a:outerShdw>
          </a:effectLst>
        </p:spPr>
      </p:sp>
      <p:sp>
        <p:nvSpPr>
          <p:cNvPr id="14" name="uc-name-Gallery"/>
          <p:cNvSpPr txBox="1"/>
          <p:nvPr/>
        </p:nvSpPr>
        <p:spPr>
          <a:xfrm>
            <a:off x="9234526" y="2103120"/>
            <a:ext cx="2011680" cy="457200"/>
          </a:xfrm>
          <a:prstGeom prst="rect">
            <a:avLst/>
          </a:prstGeom>
          <a:noFill/>
          <a:ln/>
        </p:spPr>
        <p:txBody>
          <a:bodyPr wrap="square" lIns="0" tIns="0" rIns="0" bIns="0" rtlCol="0" anchor="ctr"/>
          <a:lstStyle/>
          <a:p>
            <a:pPr indent="0" marL="0">
              <a:buNone/>
            </a:pPr>
            <a:r>
              <a:rPr lang="en-US" sz="2000" b="1" dirty="0">
                <a:solidFill>
                  <a:schemeClr val="tx2"/>
                </a:solidFill>
              </a:rPr>
              <a:t>Gallery</a:t>
            </a:r>
            <a:endParaRPr lang="en-US" sz="2000" dirty="0"/>
          </a:p>
        </p:txBody>
      </p:sp>
      <p:sp>
        <p:nvSpPr>
          <p:cNvPr id="15" name="uc-list-Gallery"/>
          <p:cNvSpPr txBox="1"/>
          <p:nvPr/>
        </p:nvSpPr>
        <p:spPr>
          <a:xfrm>
            <a:off x="9234526" y="2651760"/>
            <a:ext cx="2103120" cy="26517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accent6"/>
                </a:solidFill>
              </a:rPr>
              <a:t>Load thumbnail / ảnh lỗi</a:t>
            </a:r>
            <a:endParaRPr lang="en-US" sz="1400" dirty="0"/>
          </a:p>
          <a:p>
            <a:pPr marL="177800" indent="-177800">
              <a:spcAft>
                <a:spcPts val="700"/>
              </a:spcAft>
              <a:buSzPct val="100000"/>
              <a:buChar char="•"/>
            </a:pPr>
            <a:r>
              <a:rPr lang="en-US" sz="1400" dirty="0">
                <a:solidFill>
                  <a:schemeClr val="accent6"/>
                </a:solidFill>
              </a:rPr>
              <a:t>Sync cloud thất bại</a:t>
            </a:r>
            <a:endParaRPr lang="en-US" sz="1400" dirty="0"/>
          </a:p>
          <a:p>
            <a:pPr marL="177800" indent="-177800">
              <a:spcAft>
                <a:spcPts val="700"/>
              </a:spcAft>
              <a:buSzPct val="100000"/>
              <a:buChar char="•"/>
            </a:pPr>
            <a:r>
              <a:rPr lang="en-US" sz="1400" dirty="0">
                <a:solidFill>
                  <a:schemeClr val="accent6"/>
                </a:solidFill>
              </a:rPr>
              <a:t>Xóa / khôi phục item thất bại</a:t>
            </a:r>
            <a:endParaRPr lang="en-US" sz="1400" dirty="0"/>
          </a:p>
          <a:p>
            <a:pPr marL="177800" indent="-177800">
              <a:spcAft>
                <a:spcPts val="700"/>
              </a:spcAft>
              <a:buSzPct val="100000"/>
              <a:buChar char="•"/>
            </a:pPr>
            <a:r>
              <a:rPr lang="en-US" sz="1400" dirty="0">
                <a:solidFill>
                  <a:schemeClr val="accent6"/>
                </a:solidFill>
              </a:rPr>
              <a:t>Mở album chậm bất thường theo model</a:t>
            </a:r>
            <a:endParaRPr lang="en-US" sz="1400" dirty="0"/>
          </a:p>
          <a:p>
            <a:pPr marL="177800" indent="-177800">
              <a:spcAft>
                <a:spcPts val="700"/>
              </a:spcAft>
              <a:buSzPct val="100000"/>
              <a:buChar char="•"/>
            </a:pPr>
            <a:r>
              <a:rPr lang="en-US" sz="1400" dirty="0">
                <a:solidFill>
                  <a:schemeClr val="accent6"/>
                </a:solidFill>
              </a:rPr>
              <a:t>Scroll bị jank với thư viện lớn</a:t>
            </a:r>
            <a:endParaRPr lang="en-US" sz="1400" dirty="0"/>
          </a:p>
        </p:txBody>
      </p:sp>
      <p:sp>
        <p:nvSpPr>
          <p:cNvPr id="16" name="footnote"/>
          <p:cNvSpPr txBox="1"/>
          <p:nvPr/>
        </p:nvSpPr>
        <p:spPr>
          <a:xfrm>
            <a:off x="640080" y="5852160"/>
            <a:ext cx="10881360" cy="365760"/>
          </a:xfrm>
          <a:prstGeom prst="rect">
            <a:avLst/>
          </a:prstGeom>
          <a:noFill/>
          <a:ln/>
        </p:spPr>
        <p:txBody>
          <a:bodyPr wrap="square" lIns="0" tIns="0" rIns="0" bIns="0" rtlCol="0" anchor="ctr"/>
          <a:lstStyle/>
          <a:p>
            <a:pPr indent="0" marL="0">
              <a:buNone/>
            </a:pPr>
            <a:r>
              <a:rPr lang="en-US" sz="1300" dirty="0">
                <a:solidFill>
                  <a:srgbClr val="6A7280"/>
                </a:solidFill>
              </a:rPr>
              <a:t>Gồm lỗi nghiệp vụ không gây FC/ANR và các operation cần theo dõi hiệu năng (so sánh theo model, log khi abnormal)</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2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65760"/>
          </a:xfrm>
          <a:prstGeom prst="rect">
            <a:avLst/>
          </a:prstGeom>
          <a:noFill/>
          <a:ln/>
        </p:spPr>
        <p:txBody>
          <a:bodyPr wrap="square" rtlCol="0"/>
          <a:lstStyle/>
          <a:p>
            <a:pPr indent="0" marL="0">
              <a:buNone/>
            </a:pPr>
            <a:r>
              <a:rPr lang="en-US" sz="1300" b="1" spc="200" kern="0" dirty="0">
                <a:solidFill>
                  <a:schemeClr val="accent4"/>
                </a:solidFill>
              </a:rPr>
              <a:t>03 · EOS</a:t>
            </a:r>
            <a:endParaRPr lang="en-US" sz="1300" dirty="0"/>
          </a:p>
        </p:txBody>
      </p:sp>
      <p:sp>
        <p:nvSpPr>
          <p:cNvPr id="3" name="Text 0"/>
          <p:cNvSpPr/>
          <p:nvPr>
            <p:ph idx="101" type="title" hasCustomPrompt="1"/>
          </p:nvPr>
        </p:nvSpPr>
        <p:spPr>
          <a:xfrm>
            <a:off x="640080" y="777240"/>
            <a:ext cx="10881360" cy="731520"/>
          </a:xfrm>
          <a:prstGeom prst="rect">
            <a:avLst/>
          </a:prstGeom>
          <a:noFill/>
          <a:ln/>
        </p:spPr>
        <p:txBody>
          <a:bodyPr wrap="square" rtlCol="0"/>
          <a:lstStyle/>
          <a:p>
            <a:pPr algn="l" indent="0" marL="0">
              <a:buNone/>
            </a:pPr>
            <a:r>
              <a:rPr lang="en-US" sz="3600" b="1" dirty="0">
                <a:solidFill>
                  <a:schemeClr val="tx2"/>
                </a:solidFill>
              </a:rPr>
              <a:t>EOS của Diagmon</a:t>
            </a:r>
            <a:endParaRPr lang="en-US" sz="3600" dirty="0"/>
          </a:p>
        </p:txBody>
      </p:sp>
      <p:sp>
        <p:nvSpPr>
          <p:cNvPr id="4" name="eos-card-0"/>
          <p:cNvSpPr/>
          <p:nvPr/>
        </p:nvSpPr>
        <p:spPr>
          <a:xfrm>
            <a:off x="640080" y="1828800"/>
            <a:ext cx="5303520" cy="2468880"/>
          </a:xfrm>
          <a:prstGeom prst="roundRect">
            <a:avLst>
              <a:gd name="adj" fmla="val 4444"/>
            </a:avLst>
          </a:prstGeom>
          <a:solidFill>
            <a:schemeClr val="bg1"/>
          </a:solidFill>
          <a:ln w="9525">
            <a:solidFill>
              <a:srgbClr val="E1DFD8"/>
            </a:solidFill>
            <a:prstDash val="solid"/>
          </a:ln>
          <a:effectLst>
            <a:outerShdw sx="100000" sy="100000" kx="0" ky="0" algn="bl" rotWithShape="0" blurRad="76200" dist="25400" dir="5400000">
              <a:srgbClr val="000000">
                <a:alpha val="8000"/>
              </a:srgbClr>
            </a:outerShdw>
          </a:effectLst>
        </p:spPr>
      </p:sp>
      <p:sp>
        <p:nvSpPr>
          <p:cNvPr id="5" name="eos-from-0"/>
          <p:cNvSpPr txBox="1"/>
          <p:nvPr/>
        </p:nvSpPr>
        <p:spPr>
          <a:xfrm>
            <a:off x="960120" y="2103120"/>
            <a:ext cx="2103120" cy="457200"/>
          </a:xfrm>
          <a:prstGeom prst="rect">
            <a:avLst/>
          </a:prstGeom>
          <a:noFill/>
          <a:ln/>
        </p:spPr>
        <p:txBody>
          <a:bodyPr wrap="square" lIns="0" tIns="0" rIns="0" bIns="0" rtlCol="0" anchor="ctr"/>
          <a:lstStyle/>
          <a:p>
            <a:pPr indent="0" marL="0">
              <a:buNone/>
            </a:pPr>
            <a:r>
              <a:rPr lang="en-US" sz="1800" b="1" dirty="0">
                <a:solidFill>
                  <a:schemeClr val="tx2"/>
                </a:solidFill>
              </a:rPr>
              <a:t>Default logging</a:t>
            </a:r>
            <a:endParaRPr lang="en-US" sz="1800" dirty="0"/>
          </a:p>
        </p:txBody>
      </p:sp>
      <p:sp>
        <p:nvSpPr>
          <p:cNvPr id="6" name="eos-arrow-0"/>
          <p:cNvSpPr/>
          <p:nvPr/>
        </p:nvSpPr>
        <p:spPr>
          <a:xfrm>
            <a:off x="3108960" y="2194560"/>
            <a:ext cx="548640" cy="274320"/>
          </a:xfrm>
          <a:prstGeom prst="rightArrow">
            <a:avLst/>
          </a:prstGeom>
          <a:solidFill>
            <a:schemeClr val="accent1"/>
          </a:solidFill>
          <a:ln w="12700">
            <a:solidFill>
              <a:schemeClr val="accent1"/>
            </a:solidFill>
            <a:prstDash val="solid"/>
          </a:ln>
        </p:spPr>
      </p:sp>
      <p:sp>
        <p:nvSpPr>
          <p:cNvPr id="7" name="eos-to-0"/>
          <p:cNvSpPr txBox="1"/>
          <p:nvPr/>
        </p:nvSpPr>
        <p:spPr>
          <a:xfrm>
            <a:off x="3794760" y="2103120"/>
            <a:ext cx="1828800" cy="457200"/>
          </a:xfrm>
          <a:prstGeom prst="rect">
            <a:avLst/>
          </a:prstGeom>
          <a:noFill/>
          <a:ln/>
        </p:spPr>
        <p:txBody>
          <a:bodyPr wrap="square" lIns="0" tIns="0" rIns="0" bIns="0" rtlCol="0" anchor="ctr"/>
          <a:lstStyle/>
          <a:p>
            <a:pPr indent="0" marL="0">
              <a:buNone/>
            </a:pPr>
            <a:r>
              <a:rPr lang="en-US" sz="1800" b="1" dirty="0">
                <a:solidFill>
                  <a:srgbClr val="1F4E80"/>
                </a:solidFill>
              </a:rPr>
              <a:t>DQA</a:t>
            </a:r>
            <a:endParaRPr lang="en-US" sz="1800" dirty="0"/>
          </a:p>
        </p:txBody>
      </p:sp>
      <p:sp>
        <p:nvSpPr>
          <p:cNvPr id="8" name="eos-body-0"/>
          <p:cNvSpPr txBox="1"/>
          <p:nvPr/>
        </p:nvSpPr>
        <p:spPr>
          <a:xfrm>
            <a:off x="960120" y="2743200"/>
            <a:ext cx="4663440" cy="1005840"/>
          </a:xfrm>
          <a:prstGeom prst="rect">
            <a:avLst/>
          </a:prstGeom>
          <a:noFill/>
          <a:ln/>
        </p:spPr>
        <p:txBody>
          <a:bodyPr wrap="square" lIns="0" tIns="0" rIns="0" bIns="0" rtlCol="0" anchor="t"/>
          <a:lstStyle/>
          <a:p>
            <a:pPr indent="0" marL="0">
              <a:buNone/>
            </a:pPr>
            <a:r>
              <a:rPr lang="en-US" sz="1600" dirty="0">
                <a:solidFill>
                  <a:schemeClr val="accent6"/>
                </a:solidFill>
              </a:rPr>
              <a:t>Các app trước đây dùng default logging </a:t>
            </a:r>
            <a:pPr indent="0" marL="0">
              <a:buNone/>
            </a:pPr>
            <a:r>
              <a:rPr lang="en-US" sz="1600" b="1" dirty="0">
                <a:solidFill>
                  <a:schemeClr val="accent6"/>
                </a:solidFill>
              </a:rPr>
              <a:t>đã được loại bỏ</a:t>
            </a:r>
            <a:pPr indent="0" marL="0">
              <a:buNone/>
            </a:pPr>
            <a:r>
              <a:rPr lang="en-US" sz="1600" dirty="0">
                <a:solidFill>
                  <a:schemeClr val="accent6"/>
                </a:solidFill>
              </a:rPr>
              <a:t> khỏi Diagmon và chuyển sang dùng DQA.</a:t>
            </a:r>
            <a:endParaRPr lang="en-US" sz="1600" dirty="0"/>
          </a:p>
        </p:txBody>
      </p:sp>
      <p:sp>
        <p:nvSpPr>
          <p:cNvPr id="9" name="eos-ex-0"/>
          <p:cNvSpPr txBox="1"/>
          <p:nvPr/>
        </p:nvSpPr>
        <p:spPr>
          <a:xfrm>
            <a:off x="960120" y="3794760"/>
            <a:ext cx="4663440" cy="320040"/>
          </a:xfrm>
          <a:prstGeom prst="rect">
            <a:avLst/>
          </a:prstGeom>
          <a:noFill/>
          <a:ln/>
        </p:spPr>
        <p:txBody>
          <a:bodyPr wrap="square" lIns="0" tIns="0" rIns="0" bIns="0" rtlCol="0" anchor="ctr"/>
          <a:lstStyle/>
          <a:p>
            <a:pPr indent="0" marL="0">
              <a:buNone/>
            </a:pPr>
            <a:r>
              <a:rPr lang="en-US" sz="1300" dirty="0">
                <a:solidFill>
                  <a:srgbClr val="6A7280"/>
                </a:solidFill>
              </a:rPr>
              <a:t>VD: SmartView</a:t>
            </a:r>
            <a:endParaRPr lang="en-US" sz="1300" dirty="0"/>
          </a:p>
        </p:txBody>
      </p:sp>
      <p:sp>
        <p:nvSpPr>
          <p:cNvPr id="10" name="eos-card-1"/>
          <p:cNvSpPr/>
          <p:nvPr/>
        </p:nvSpPr>
        <p:spPr>
          <a:xfrm>
            <a:off x="6217920" y="1828800"/>
            <a:ext cx="5303520" cy="2468880"/>
          </a:xfrm>
          <a:prstGeom prst="roundRect">
            <a:avLst>
              <a:gd name="adj" fmla="val 4444"/>
            </a:avLst>
          </a:prstGeom>
          <a:solidFill>
            <a:schemeClr val="bg1"/>
          </a:solidFill>
          <a:ln w="9525">
            <a:solidFill>
              <a:srgbClr val="E1DFD8"/>
            </a:solidFill>
            <a:prstDash val="solid"/>
          </a:ln>
          <a:effectLst>
            <a:outerShdw sx="100000" sy="100000" kx="0" ky="0" algn="bl" rotWithShape="0" blurRad="76200" dist="25400" dir="5400000">
              <a:srgbClr val="000000">
                <a:alpha val="8000"/>
              </a:srgbClr>
            </a:outerShdw>
          </a:effectLst>
        </p:spPr>
      </p:sp>
      <p:sp>
        <p:nvSpPr>
          <p:cNvPr id="11" name="eos-from-1"/>
          <p:cNvSpPr txBox="1"/>
          <p:nvPr/>
        </p:nvSpPr>
        <p:spPr>
          <a:xfrm>
            <a:off x="6537960" y="2103120"/>
            <a:ext cx="2103120" cy="457200"/>
          </a:xfrm>
          <a:prstGeom prst="rect">
            <a:avLst/>
          </a:prstGeom>
          <a:noFill/>
          <a:ln/>
        </p:spPr>
        <p:txBody>
          <a:bodyPr wrap="square" lIns="0" tIns="0" rIns="0" bIns="0" rtlCol="0" anchor="ctr"/>
          <a:lstStyle/>
          <a:p>
            <a:pPr indent="0" marL="0">
              <a:buNone/>
            </a:pPr>
            <a:r>
              <a:rPr lang="en-US" sz="1800" b="1" dirty="0">
                <a:solidFill>
                  <a:schemeClr val="tx2"/>
                </a:solidFill>
              </a:rPr>
              <a:t>Custom logging</a:t>
            </a:r>
            <a:endParaRPr lang="en-US" sz="1800" dirty="0"/>
          </a:p>
        </p:txBody>
      </p:sp>
      <p:sp>
        <p:nvSpPr>
          <p:cNvPr id="12" name="eos-arrow-1"/>
          <p:cNvSpPr/>
          <p:nvPr/>
        </p:nvSpPr>
        <p:spPr>
          <a:xfrm>
            <a:off x="8686800" y="2194560"/>
            <a:ext cx="548640" cy="274320"/>
          </a:xfrm>
          <a:prstGeom prst="rightArrow">
            <a:avLst/>
          </a:prstGeom>
          <a:solidFill>
            <a:schemeClr val="accent2"/>
          </a:solidFill>
          <a:ln w="12700">
            <a:solidFill>
              <a:schemeClr val="accent2"/>
            </a:solidFill>
            <a:prstDash val="solid"/>
          </a:ln>
        </p:spPr>
      </p:sp>
      <p:sp>
        <p:nvSpPr>
          <p:cNvPr id="13" name="eos-to-1"/>
          <p:cNvSpPr txBox="1"/>
          <p:nvPr/>
        </p:nvSpPr>
        <p:spPr>
          <a:xfrm>
            <a:off x="9372600" y="2103120"/>
            <a:ext cx="1828800" cy="457200"/>
          </a:xfrm>
          <a:prstGeom prst="rect">
            <a:avLst/>
          </a:prstGeom>
          <a:noFill/>
          <a:ln/>
        </p:spPr>
        <p:txBody>
          <a:bodyPr wrap="square" lIns="0" tIns="0" rIns="0" bIns="0" rtlCol="0" anchor="ctr"/>
          <a:lstStyle/>
          <a:p>
            <a:pPr indent="0" marL="0">
              <a:buNone/>
            </a:pPr>
            <a:r>
              <a:rPr lang="en-US" sz="1800" b="1" dirty="0">
                <a:solidFill>
                  <a:srgbClr val="8A4310"/>
                </a:solidFill>
              </a:rPr>
              <a:t>Giữ nguyên</a:t>
            </a:r>
            <a:endParaRPr lang="en-US" sz="1800" dirty="0"/>
          </a:p>
        </p:txBody>
      </p:sp>
      <p:sp>
        <p:nvSpPr>
          <p:cNvPr id="14" name="eos-body-1"/>
          <p:cNvSpPr txBox="1"/>
          <p:nvPr/>
        </p:nvSpPr>
        <p:spPr>
          <a:xfrm>
            <a:off x="6537960" y="2743200"/>
            <a:ext cx="4663440" cy="1005840"/>
          </a:xfrm>
          <a:prstGeom prst="rect">
            <a:avLst/>
          </a:prstGeom>
          <a:noFill/>
          <a:ln/>
        </p:spPr>
        <p:txBody>
          <a:bodyPr wrap="square" lIns="0" tIns="0" rIns="0" bIns="0" rtlCol="0" anchor="t"/>
          <a:lstStyle/>
          <a:p>
            <a:pPr indent="0" marL="0">
              <a:buNone/>
            </a:pPr>
            <a:r>
              <a:rPr lang="en-US" sz="1600" dirty="0">
                <a:solidFill>
                  <a:schemeClr val="accent6"/>
                </a:solidFill>
              </a:rPr>
              <a:t>Các app có </a:t>
            </a:r>
            <a:pPr indent="0" marL="0">
              <a:buNone/>
            </a:pPr>
            <a:r>
              <a:rPr lang="en-US" sz="1600" b="1" dirty="0">
                <a:solidFill>
                  <a:schemeClr val="accent6"/>
                </a:solidFill>
              </a:rPr>
              <a:t>lý do đặc biệt</a:t>
            </a:r>
            <a:pPr indent="0" marL="0">
              <a:buNone/>
            </a:pPr>
            <a:r>
              <a:rPr lang="en-US" sz="1600" dirty="0">
                <a:solidFill>
                  <a:schemeClr val="accent6"/>
                </a:solidFill>
              </a:rPr>
              <a:t> và cần dùng custom logging thì vẫn được giữ nguyên trên Diagmon.</a:t>
            </a:r>
            <a:endParaRPr lang="en-US" sz="1600" dirty="0"/>
          </a:p>
        </p:txBody>
      </p:sp>
      <p:sp>
        <p:nvSpPr>
          <p:cNvPr id="15" name="eos-ex-1"/>
          <p:cNvSpPr txBox="1"/>
          <p:nvPr/>
        </p:nvSpPr>
        <p:spPr>
          <a:xfrm>
            <a:off x="6537960" y="3794760"/>
            <a:ext cx="4663440" cy="320040"/>
          </a:xfrm>
          <a:prstGeom prst="rect">
            <a:avLst/>
          </a:prstGeom>
          <a:noFill/>
          <a:ln/>
        </p:spPr>
        <p:txBody>
          <a:bodyPr wrap="square" lIns="0" tIns="0" rIns="0" bIns="0" rtlCol="0" anchor="ctr"/>
          <a:lstStyle/>
          <a:p>
            <a:pPr indent="0" marL="0">
              <a:buNone/>
            </a:pPr>
            <a:r>
              <a:rPr lang="en-US" sz="1300" dirty="0">
                <a:solidFill>
                  <a:srgbClr val="6A7280"/>
                </a:solidFill>
              </a:rPr>
              <a:t>VD: Gallery</a:t>
            </a:r>
            <a:endParaRPr lang="en-US" sz="1300" dirty="0"/>
          </a:p>
        </p:txBody>
      </p:sp>
      <p:sp>
        <p:nvSpPr>
          <p:cNvPr id="16" name="note-box"/>
          <p:cNvSpPr/>
          <p:nvPr/>
        </p:nvSpPr>
        <p:spPr>
          <a:xfrm>
            <a:off x="640080" y="4617720"/>
            <a:ext cx="10881360" cy="960120"/>
          </a:xfrm>
          <a:prstGeom prst="roundRect">
            <a:avLst>
              <a:gd name="adj" fmla="val 11429"/>
            </a:avLst>
          </a:prstGeom>
          <a:solidFill>
            <a:schemeClr val="tx2"/>
          </a:solidFill>
          <a:ln w="12700">
            <a:solidFill>
              <a:srgbClr val="14213D"/>
            </a:solidFill>
            <a:prstDash val="solid"/>
          </a:ln>
        </p:spPr>
      </p:sp>
      <p:sp>
        <p:nvSpPr>
          <p:cNvPr id="17" name="note-icon"/>
          <p:cNvSpPr/>
          <p:nvPr/>
        </p:nvSpPr>
        <p:spPr>
          <a:xfrm>
            <a:off x="914400" y="4846320"/>
            <a:ext cx="502920" cy="502920"/>
          </a:xfrm>
          <a:prstGeom prst="ellipse">
            <a:avLst/>
          </a:prstGeom>
          <a:solidFill>
            <a:schemeClr val="accent2"/>
          </a:solidFill>
          <a:ln w="12700">
            <a:solidFill>
              <a:srgbClr val="E07A2E"/>
            </a:solidFill>
            <a:prstDash val="solid"/>
          </a:ln>
        </p:spPr>
      </p:sp>
      <p:sp>
        <p:nvSpPr>
          <p:cNvPr id="18" name="note-icon-text"/>
          <p:cNvSpPr txBox="1"/>
          <p:nvPr/>
        </p:nvSpPr>
        <p:spPr>
          <a:xfrm>
            <a:off x="914400" y="4846320"/>
            <a:ext cx="502920" cy="502920"/>
          </a:xfrm>
          <a:prstGeom prst="rect">
            <a:avLst/>
          </a:prstGeom>
          <a:noFill/>
          <a:ln/>
        </p:spPr>
        <p:txBody>
          <a:bodyPr wrap="square" lIns="0" tIns="0" rIns="0" bIns="0" rtlCol="0" anchor="ctr"/>
          <a:lstStyle/>
          <a:p>
            <a:pPr algn="ctr" indent="0" marL="0">
              <a:buNone/>
            </a:pPr>
            <a:r>
              <a:rPr lang="en-US" sz="2200" b="1" dirty="0">
                <a:solidFill>
                  <a:schemeClr val="tx2"/>
                </a:solidFill>
              </a:rPr>
              <a:t>!</a:t>
            </a:r>
            <a:endParaRPr lang="en-US" sz="2200" dirty="0"/>
          </a:p>
        </p:txBody>
      </p:sp>
      <p:sp>
        <p:nvSpPr>
          <p:cNvPr id="19" name="note-text"/>
          <p:cNvSpPr txBox="1"/>
          <p:nvPr/>
        </p:nvSpPr>
        <p:spPr>
          <a:xfrm>
            <a:off x="1645920" y="4617720"/>
            <a:ext cx="9601200" cy="960120"/>
          </a:xfrm>
          <a:prstGeom prst="rect">
            <a:avLst/>
          </a:prstGeom>
          <a:noFill/>
          <a:ln/>
        </p:spPr>
        <p:txBody>
          <a:bodyPr wrap="square" lIns="0" tIns="0" rIns="0" bIns="0" rtlCol="0" anchor="ctr"/>
          <a:lstStyle/>
          <a:p>
            <a:pPr indent="0" marL="0">
              <a:buNone/>
            </a:pPr>
            <a:r>
              <a:rPr lang="en-US" sz="1700" b="1" dirty="0">
                <a:solidFill>
                  <a:srgbClr val="F2A266"/>
                </a:solidFill>
              </a:rPr>
              <a:t>Lưu ý: </a:t>
            </a:r>
            <a:pPr indent="0" marL="0">
              <a:buNone/>
            </a:pPr>
            <a:r>
              <a:rPr lang="en-US" sz="1700" dirty="0">
                <a:solidFill>
                  <a:srgbClr val="F6F5F1"/>
                </a:solidFill>
              </a:rPr>
              <a:t>Hiện tại chưa có thông tin thêm về việc chuyển custom logging sang DQA.</a:t>
            </a:r>
            <a:endParaRPr lang="en-US" sz="17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280"/>
                </a:solidFill>
              </a:defRPr>
            </a:lvl1pPr>
          </a:lstStyle>
          <a:p>
            <a:pPr algn="l"/>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Diagmon">
  <a:themeElements>
    <a:clrScheme name="Diagmon">
      <a:dk1>
        <a:srgbClr val="1C2638"/>
      </a:dk1>
      <a:lt1>
        <a:srgbClr val="FFFFFF"/>
      </a:lt1>
      <a:dk2>
        <a:srgbClr val="14213D"/>
      </a:dk2>
      <a:lt2>
        <a:srgbClr val="F3F2EE"/>
      </a:lt2>
      <a:accent1>
        <a:srgbClr val="2F6FB0"/>
      </a:accent1>
      <a:accent2>
        <a:srgbClr val="E07A2E"/>
      </a:accent2>
      <a:accent3>
        <a:srgbClr val="9AA3B2"/>
      </a:accent3>
      <a:accent4>
        <a:srgbClr val="B85A14"/>
      </a:accent4>
      <a:accent5>
        <a:srgbClr val="1F4E80"/>
      </a:accent5>
      <a:accent6>
        <a:srgbClr val="4A5568"/>
      </a:accent6>
      <a:hlink>
        <a:srgbClr val="2F6FB0"/>
      </a:hlink>
      <a:folHlink>
        <a:srgbClr val="1F4E80"/>
      </a:folHlink>
    </a:clrScheme>
    <a:fontScheme name="Diagm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Diagmon</dc:title>
  <dc:subject>PptxGenJS Presentation</dc:subject>
  <dc:creator>PptxGenJS</dc:creator>
  <cp:lastModifiedBy>PptxGenJS</cp:lastModifiedBy>
  <cp:revision>1</cp:revision>
  <dcterms:created xsi:type="dcterms:W3CDTF">2026-10-25T12:53:31Z</dcterms:created>
  <dcterms:modified xsi:type="dcterms:W3CDTF">2026-10-25T12:53:31Z</dcterms:modified>
</cp:coreProperties>
</file>